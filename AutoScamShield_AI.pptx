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7" r:id="rId10"/>
    <p:sldId id="269" r:id="rId11"/>
    <p:sldId id="270" r:id="rId12"/>
    <p:sldId id="271" r:id="rId13"/>
    <p:sldId id="262" r:id="rId14"/>
    <p:sldId id="263" r:id="rId15"/>
    <p:sldId id="266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4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016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8EAF-92C6-9B15-25FA-E1547BE29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1B7E6-8AD1-FB49-86D0-91A3CAE1C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C0089-6B87-D85D-B86D-22667BE73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C1547-8BEE-0C6A-12CF-F00DCD49BE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47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0695" y="534923"/>
            <a:ext cx="6894180" cy="4270249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1190695" y="502920"/>
            <a:ext cx="6894180" cy="45719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777240"/>
            <a:ext cx="1645920" cy="1399032"/>
          </a:xfrm>
          <a:prstGeom prst="rect">
            <a:avLst/>
          </a:prstGeom>
          <a:solidFill>
            <a:srgbClr val="EEF6FF"/>
          </a:solidFill>
          <a:ln w="12700">
            <a:solidFill>
              <a:srgbClr val="5B9BD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49040" y="77724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🛡️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463040" y="2173871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r>
              <a:rPr lang="en-US" sz="4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Scam</a:t>
            </a:r>
            <a:r>
              <a:rPr lang="en-US" sz="4200" b="1" dirty="0">
                <a:solidFill>
                  <a:srgbClr val="1A6D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</a:t>
            </a:r>
            <a:r>
              <a:rPr lang="en-US" sz="4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AI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472184" y="290381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700" i="1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Email Threat Detection &amp; Autonomous Response System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611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81528" y="3611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54296" y="3611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95494" y="3621994"/>
            <a:ext cx="1857811" cy="90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Presented by:</a:t>
            </a:r>
            <a:br>
              <a:rPr lang="en-US" sz="1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Name: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S.Geethikasri</a:t>
            </a:r>
            <a:br>
              <a:rPr lang="en-US" sz="1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Roll no: 24071A67K1</a:t>
            </a:r>
            <a:br>
              <a:rPr lang="en-US" sz="1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Branch : Data Science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Section: C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481888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26517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globally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84124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841248"/>
            <a:ext cx="265176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$17.4B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162763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email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in 2023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84124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841248"/>
            <a:ext cx="265176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162763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orgs faced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95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D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Challenges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7889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Spam filters miss sophisticated scams that mimic legitimate emails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64408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2644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Manual review is slow, expensive, and prone to human error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39896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73989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Scam patterns evolve faster than static rule-based systems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15384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21538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Users lack real-time, per-email explanations to make safe decisions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DAEE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AutoScamShield AI  |  Problem Statement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Our Solution — AutoScamShield AI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566928"/>
          </a:xfrm>
          <a:prstGeom prst="rect">
            <a:avLst/>
          </a:prstGeom>
          <a:solidFill>
            <a:srgbClr val="DAEEFF"/>
          </a:solidFill>
          <a:ln w="12700">
            <a:solidFill>
              <a:srgbClr val="5B9BD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498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system that automatically scans your Gmail inbox, analyzes each email using Claude AI + RAG memory, and classifies every email as Safe or Scam in real-time.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8163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816352" cy="54864"/>
          </a:xfrm>
          <a:prstGeom prst="rect">
            <a:avLst/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721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1499616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Gmail Scan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Gmail via IMAP. Reads your last 10 real emails automatically.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417320"/>
            <a:ext cx="28163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417320"/>
            <a:ext cx="281635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4721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22192" y="1499616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AI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920240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email body sent to Claude claude-opus-4-5 for deep scam pattern detection.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417320"/>
            <a:ext cx="28163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1417320"/>
            <a:ext cx="2816352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4721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75704" y="1499616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72784" y="1920240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 of 500+ known scam patterns retrieved at inference time.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28163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34640"/>
            <a:ext cx="2816352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895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8680" y="2916936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Scoring 0–100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337560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with action: Block, Quarantine, or Deliver.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27832" y="2834640"/>
            <a:ext cx="28163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27832" y="2834640"/>
            <a:ext cx="2816352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27832" y="28895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822192" y="2916936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9272" y="3337560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charts, email feed, pipeline view, system log.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1344" y="2834640"/>
            <a:ext cx="28163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2834640"/>
            <a:ext cx="2816352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28895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75704" y="2916936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6-Agent Pipeline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72784" y="3337560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agents: Fetcher → LLM → RAG → Scorer → Response → Dashboard.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DAEE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AutoScamShield AI  |  Solution Overview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 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188720" cy="475488"/>
          </a:xfrm>
          <a:prstGeom prst="rect">
            <a:avLst/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00200" y="749808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74980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IMAP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52928" y="749808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52928" y="74980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900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Simulate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05656" y="74980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3816" y="1225296"/>
            <a:ext cx="18288" cy="109728"/>
          </a:xfrm>
          <a:prstGeom prst="rect">
            <a:avLst/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316736"/>
            <a:ext cx="1188720" cy="47548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31673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00200" y="1316736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00200" y="131673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Fetcher Agent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52928" y="1316736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52928" y="131673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05656" y="1316736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05656" y="131673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58384" y="1316736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58384" y="131673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11112" y="1316736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11112" y="131673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63840" y="1316736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63840" y="131673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" y="1792224"/>
            <a:ext cx="18288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1883664"/>
            <a:ext cx="118872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18836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00200" y="1883664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600200" y="1883664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claude-opus-4-5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52928" y="1883664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852928" y="1883664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05656" y="1883664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05656" y="1883664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Context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3816" y="2359152"/>
            <a:ext cx="18288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2450592"/>
            <a:ext cx="1188720" cy="47548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45059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00200" y="2450592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600200" y="2450592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52928" y="2450592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852928" y="2450592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Pattern DB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05656" y="2450592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105656" y="2450592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Metadata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3816" y="2926080"/>
            <a:ext cx="18288" cy="10972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3017520"/>
            <a:ext cx="118872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01752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600200" y="3017520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600200" y="301752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Email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852928" y="3017520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852928" y="301752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05656" y="3017520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105656" y="301752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Safely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358384" y="3017520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358384" y="301752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3816" y="3493008"/>
            <a:ext cx="1828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3584448"/>
            <a:ext cx="118872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35844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600200" y="3584448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1600200" y="358444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852928" y="3584448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2852928" y="358444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05656" y="3584448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105656" y="358444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58384" y="3584448"/>
            <a:ext cx="1170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358384" y="358444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View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4320" y="4206240"/>
            <a:ext cx="8595360" cy="438912"/>
          </a:xfrm>
          <a:prstGeom prst="rect">
            <a:avLst/>
          </a:prstGeom>
          <a:solidFill>
            <a:srgbClr val="DAEE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420624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are orchestrated by Flask (Python). Data flows top-down: Email → Agents → Claude AI → Decision → UI Update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DAEE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AutoScamShield AI  | 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6-Agent Agentic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1280160" cy="54864"/>
          </a:xfrm>
          <a:prstGeom prst="rect">
            <a:avLst/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896112"/>
            <a:ext cx="457200" cy="457200"/>
          </a:xfrm>
          <a:prstGeom prst="line">
            <a:avLst/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993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35915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Gmail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IMAP, fetch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emails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54480" y="2176272"/>
            <a:ext cx="164592" cy="45720"/>
          </a:xfrm>
          <a:prstGeom prst="rect">
            <a:avLst/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1031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DB5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37360" y="804672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37360" y="804672"/>
            <a:ext cx="128016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896112"/>
            <a:ext cx="457200" cy="457200"/>
          </a:xfrm>
          <a:prstGeom prst="lin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1417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1993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235915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FAISS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for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17520" y="2176272"/>
            <a:ext cx="164592" cy="457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21031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3483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804672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804672"/>
            <a:ext cx="12801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11880" y="896112"/>
            <a:ext cx="457200" cy="457200"/>
          </a:xfrm>
          <a:prstGeom prst="lin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0" y="1417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00400" y="1993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46120" y="235915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Claude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clause-opus-4-5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2176272"/>
            <a:ext cx="16459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1031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392B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804672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804672"/>
            <a:ext cx="128016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4920" y="896112"/>
            <a:ext cx="457200" cy="457200"/>
          </a:xfrm>
          <a:prstGeom prst="lin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63440" y="1417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663440" y="1993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09160" y="235915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0–100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from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0" y="2176272"/>
            <a:ext cx="164592" cy="457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1031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35400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804672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804672"/>
            <a:ext cx="12801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896112"/>
            <a:ext cx="457200" cy="457200"/>
          </a:xfrm>
          <a:prstGeom prst="lin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26480" y="1417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126480" y="1993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172200" y="235915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Block,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Quarantine, 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06640" y="2176272"/>
            <a:ext cx="164592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21031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377"/>
                </a:solidFill>
              </a:rPr>
              <a:t>▶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89520" y="804672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589520" y="804672"/>
            <a:ext cx="128016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01000" y="896112"/>
            <a:ext cx="457200" cy="457200"/>
          </a:xfrm>
          <a:prstGeom prst="lin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01000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589520" y="1417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7589520" y="1993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635240" y="235915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UI,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logs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real-time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3858768"/>
            <a:ext cx="8595360" cy="347472"/>
          </a:xfrm>
          <a:prstGeom prst="rect">
            <a:avLst/>
          </a:prstGeom>
          <a:solidFill>
            <a:srgbClr val="DAEE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8587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  →  RAG Lookup  →  AI Analysis  →  Risk Score  →  Action  →  Dashboard Update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4320" y="4279392"/>
            <a:ext cx="2286000" cy="411480"/>
          </a:xfrm>
          <a:prstGeom prst="rect">
            <a:avLst/>
          </a:prstGeom>
          <a:solidFill>
            <a:srgbClr val="DAEEFF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2793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  Input: Raw Gmail Email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583680" y="4279392"/>
            <a:ext cx="2286000" cy="411480"/>
          </a:xfrm>
          <a:prstGeom prst="rect">
            <a:avLst/>
          </a:prstGeom>
          <a:solidFill>
            <a:srgbClr val="DAEE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0" y="42793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Output: Scam/Safe + Action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DAEE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AutoScamShield AI  |  Agent Pipeline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  Live Implementation — Dashboard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0" y="804672"/>
            <a:ext cx="2468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804672"/>
            <a:ext cx="2468880" cy="45720"/>
          </a:xfrm>
          <a:prstGeom prst="rect">
            <a:avLst/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8778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D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Stats Cards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46520" y="11338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of scams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&amp; safe emails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0" y="1719072"/>
            <a:ext cx="2468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719072"/>
            <a:ext cx="246888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7922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Threat Charts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46520" y="20482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&amp; line chart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in real-time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0" y="2633472"/>
            <a:ext cx="2468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633472"/>
            <a:ext cx="2468880" cy="457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27066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Gmail Scan Bar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46520" y="29626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Gmail + 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to scan inbox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0" y="3547872"/>
            <a:ext cx="2468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0" y="3547872"/>
            <a:ext cx="246888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3621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Email Feed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46520" y="38770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Colour-coded: red=scam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green=safe emails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DAEE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AutoScamShield AI  |  Implementation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3644017-E1ED-BD08-7BFB-464A38796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6777"/>
            <a:ext cx="6306332" cy="37191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15214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74980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21808" y="8046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21808" y="115214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175564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181051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215798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75564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21808" y="181051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21808" y="215798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276148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" y="28163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" y="316382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276148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28163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316382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376732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" y="38221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" y="416966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376732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21808" y="38221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21808" y="416966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DAEE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AutoScamShield AI </a:t>
            </a:r>
            <a:endParaRPr lang="en-US" sz="10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97A3FC4-4A33-523D-8CD8-35C6FB687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329185"/>
            <a:ext cx="8710078" cy="43612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Results &amp; Demo Outputs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41028" y="3719536"/>
            <a:ext cx="194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41028" y="3678552"/>
            <a:ext cx="1942080" cy="45719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36732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12280" y="414680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41028" y="2542032"/>
            <a:ext cx="194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31160" y="2493286"/>
            <a:ext cx="1951948" cy="45719"/>
          </a:xfrm>
          <a:prstGeom prst="rect">
            <a:avLst/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01294" y="24643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D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&lt;3s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31160" y="290322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Email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41028" y="1389888"/>
            <a:ext cx="1942080" cy="83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41028" y="1341899"/>
            <a:ext cx="1942080" cy="75421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1028" y="1325207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7804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Scanned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41028" y="309548"/>
            <a:ext cx="194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31160" y="283464"/>
            <a:ext cx="1951948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1160" y="3246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0–100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89716" y="7468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2331720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3317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2350008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PayPal account is suspended!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2514600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support@paypal-secure-alert.com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0" y="2331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23317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23317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734056"/>
            <a:ext cx="36576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7340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" y="275234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order #112-3847 has shipped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2916936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noreply@amazon.com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0" y="27340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0" y="27340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273405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13639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13639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3232" y="315468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 You won $500,000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" y="3319272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lottery@globalprizes.net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0" y="31363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 Scam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66560" y="31363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89520" y="31363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538728"/>
            <a:ext cx="36576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53872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13232" y="3557016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[GitHub] Verify your email address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3232" y="3721608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no-reply@github.com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29200" y="35387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66560" y="353872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89520" y="353872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3941064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94106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13232" y="3959352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Tax Refund Pending — Act Now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13232" y="4123944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irs-refund@tax-gov-alert.com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029200" y="39410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Scam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66560" y="394106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589520" y="394106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4343400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3434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13232" y="4361688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activity detected on your account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3232" y="4526280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security@bankofamerica-alert.net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029200" y="4343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Fraud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766560" y="43434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589520" y="43434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DAEE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AutoScamShield AI  |  Results</a:t>
            </a:r>
            <a:endParaRPr lang="en-US" sz="100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23F18E3D-326B-69D3-4911-75CCE1DD0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6" y="679320"/>
            <a:ext cx="6647674" cy="40910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685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463040" y="257860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3090672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49300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25496" y="3090672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25496" y="349300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42232" y="3090672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42232" y="349300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58968" y="3090672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58968" y="349300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404164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C6E5ED0-A77A-71C7-8E00-53DF388DB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2" y="302607"/>
            <a:ext cx="8970013" cy="45531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F5FAB-6B9D-822C-550A-98998BF7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563AEA-9A5A-CD05-3B6B-BF79E3B059C0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94236B-4906-5A21-C337-A2D64D72BDC3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040AF7-C3BD-B33E-7309-353D274451A4}"/>
              </a:ext>
            </a:extLst>
          </p:cNvPr>
          <p:cNvSpPr/>
          <p:nvPr/>
        </p:nvSpPr>
        <p:spPr>
          <a:xfrm>
            <a:off x="3200400" y="685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1569DF-A1FC-BD51-E697-7A788F6F1080}"/>
              </a:ext>
            </a:extLst>
          </p:cNvPr>
          <p:cNvSpPr/>
          <p:nvPr/>
        </p:nvSpPr>
        <p:spPr>
          <a:xfrm>
            <a:off x="1463040" y="182880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BCFADA6-1C07-B2F1-2A5B-4347D027463C}"/>
              </a:ext>
            </a:extLst>
          </p:cNvPr>
          <p:cNvSpPr/>
          <p:nvPr/>
        </p:nvSpPr>
        <p:spPr>
          <a:xfrm>
            <a:off x="1463040" y="257860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BF59EAF-29BD-B475-C319-BB9292004D05}"/>
              </a:ext>
            </a:extLst>
          </p:cNvPr>
          <p:cNvSpPr/>
          <p:nvPr/>
        </p:nvSpPr>
        <p:spPr>
          <a:xfrm>
            <a:off x="1508760" y="3090672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AB13CB1-2328-FAC8-0C68-5A99C7EBDCFE}"/>
              </a:ext>
            </a:extLst>
          </p:cNvPr>
          <p:cNvSpPr/>
          <p:nvPr/>
        </p:nvSpPr>
        <p:spPr>
          <a:xfrm>
            <a:off x="1508760" y="349300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68BA83A-2B17-5E74-F73B-1148B0982D11}"/>
              </a:ext>
            </a:extLst>
          </p:cNvPr>
          <p:cNvSpPr/>
          <p:nvPr/>
        </p:nvSpPr>
        <p:spPr>
          <a:xfrm>
            <a:off x="2825496" y="3090672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42B99C6-AD88-9374-A312-891EE692A84B}"/>
              </a:ext>
            </a:extLst>
          </p:cNvPr>
          <p:cNvSpPr/>
          <p:nvPr/>
        </p:nvSpPr>
        <p:spPr>
          <a:xfrm>
            <a:off x="2825496" y="349300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14BC5CA-16DA-BF64-D567-4E6A241E548D}"/>
              </a:ext>
            </a:extLst>
          </p:cNvPr>
          <p:cNvSpPr/>
          <p:nvPr/>
        </p:nvSpPr>
        <p:spPr>
          <a:xfrm>
            <a:off x="4142232" y="3090672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FDC453D-5196-4CAE-5AF3-3D25FD82617B}"/>
              </a:ext>
            </a:extLst>
          </p:cNvPr>
          <p:cNvSpPr/>
          <p:nvPr/>
        </p:nvSpPr>
        <p:spPr>
          <a:xfrm>
            <a:off x="4142232" y="349300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372BABC-DD23-45EF-876E-64BC57D78253}"/>
              </a:ext>
            </a:extLst>
          </p:cNvPr>
          <p:cNvSpPr/>
          <p:nvPr/>
        </p:nvSpPr>
        <p:spPr>
          <a:xfrm>
            <a:off x="5458968" y="3090672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49C7807-5705-EC3B-B2BA-14F1E6B20AF9}"/>
              </a:ext>
            </a:extLst>
          </p:cNvPr>
          <p:cNvSpPr/>
          <p:nvPr/>
        </p:nvSpPr>
        <p:spPr>
          <a:xfrm>
            <a:off x="5458968" y="349300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E834F33-E6AB-A6ED-82F3-6C95DD5A2BD1}"/>
              </a:ext>
            </a:extLst>
          </p:cNvPr>
          <p:cNvSpPr/>
          <p:nvPr/>
        </p:nvSpPr>
        <p:spPr>
          <a:xfrm>
            <a:off x="1463040" y="404164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0734F-8784-2569-A4FC-36BDD4406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029381-3DAF-9424-8BB5-52B2B3975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8" y="205937"/>
            <a:ext cx="8933343" cy="462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6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B4497E-5F1D-59F9-13CA-9DAA9E065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1F0FD0-EDD7-1C68-D88A-3776DB859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9483"/>
            <a:ext cx="9144000" cy="406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25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183FC8-3F5C-4C07-5737-A02DE35E4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088266-5404-008A-9ADD-2FA2F4B78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2671"/>
            <a:ext cx="9144000" cy="405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54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How It Works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502920" cy="502920"/>
          </a:xfrm>
          <a:prstGeom prst="line">
            <a:avLst/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749808"/>
            <a:ext cx="8001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78638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D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📧 User Enters Gmail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42416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their Gmail address and 16-character App Password (generated from Google Account → Security → App Passwords) into the dashboard scan bar.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502920" cy="502920"/>
          </a:xfrm>
          <a:prstGeom prst="lin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1572768"/>
            <a:ext cx="8001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60934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📥 Fetcher Agent Connects via IMAP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865376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uses Python's imaplib to connect to imap.gmail.com:993 (SSL). Authenticates with App Password and fetches the last 10 emails from INBOX.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87168"/>
            <a:ext cx="502920" cy="502920"/>
          </a:xfrm>
          <a:prstGeom prst="lin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2395728"/>
            <a:ext cx="8001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243230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RAG Agent Searches Pattern Memory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688336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email subject + preview is matched against the FAISS vector store of 500+ known scam patterns. Matched category is injected into the prompt as context.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10128"/>
            <a:ext cx="502920" cy="502920"/>
          </a:xfrm>
          <a:prstGeom prst="lin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" y="3218688"/>
            <a:ext cx="8001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325526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Claude AI Analyzes Each Email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511296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sends a structured prompt with email content + RAG context to Claude claude-opus-4-5. Returns JSON: is_scam, risk_score, category, reason, action.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133088"/>
            <a:ext cx="502920" cy="502920"/>
          </a:xfrm>
          <a:prstGeom prst="lin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680" y="4041648"/>
            <a:ext cx="8001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0120" y="407822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Risk Scorer + Response Agent 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334256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&gt;70 → Block. 40–70 → Quarantine. &lt;40 → Deliver. All stats, charts, and email feed updated live on the dashboard.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DAEE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AutoScamShield AI  |  How It Works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  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834640" cy="384048"/>
          </a:xfrm>
          <a:prstGeom prst="rect">
            <a:avLst/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261872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 / CSS3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51790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structure &amp; styling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11096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1965960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Vanilla 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22199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DOM updates, fetch API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615184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670048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Chart.js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29260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&amp; line charts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319272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3374136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Tech Mono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63016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monospace font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4078224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Rajdhani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334256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display font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749808"/>
            <a:ext cx="2834640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7498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46120" y="120700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55848" y="1261872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Flask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5848" y="151790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API: /simulate, /scan-inbox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1911096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55848" y="1965960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imaplib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55848" y="222199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IMAP connection (SSL)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2615184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55848" y="2670048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module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55848" y="29260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raw RFC822 emails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319272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55848" y="3374136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python-dotenv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55848" y="363016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key management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46120" y="4023360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55848" y="4078224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Gunicorn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55848" y="4334256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WSGI server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749808"/>
            <a:ext cx="28346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7498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Data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217920" y="120700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27648" y="1261872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claude-opus-4-5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27648" y="151790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analysis via Anthropic API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1911096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27648" y="1965960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Memory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27648" y="222199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similarity search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7920" y="2615184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327648" y="2670048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prompts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27648" y="29260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enforcement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17920" y="3319272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27648" y="3374136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context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27648" y="363016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pattern categories, 500+ vectors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4023360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327648" y="4078224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Password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327648" y="4334256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IMAP authentication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DAEE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AutoScamShield AI  |  Technology Stack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Scope &amp;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914400" cy="1234440"/>
          </a:xfrm>
          <a:prstGeom prst="rect">
            <a:avLst/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274320" y="749808"/>
            <a:ext cx="914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80160" y="749808"/>
            <a:ext cx="7589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25880" y="74980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786384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D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Gmail OAuth 2.0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024128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App Password with secure Google OAuth flow for public deployment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80160" y="1362456"/>
            <a:ext cx="7589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DB5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25880" y="13624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1399032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D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Outlook &amp; Yahoo 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1636776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IMAP support to Outlook, Yahoo Mail, and custom SMTP servers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914400" cy="12344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16200000">
            <a:off x="274320" y="2103120"/>
            <a:ext cx="914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80160" y="2103120"/>
            <a:ext cx="7589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2588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2139696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Auto-delete / Auto-move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237744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automatically move scam emails to Trash or Spam folder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280160" y="2715768"/>
            <a:ext cx="7589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25880" y="27157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0" y="2752344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FAISS Fine-tuning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2990088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 vector store with newly detected scam patterns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456432"/>
            <a:ext cx="914400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 rot="16200000">
            <a:off x="274320" y="3456432"/>
            <a:ext cx="914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80160" y="3456432"/>
            <a:ext cx="7589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25880" y="345643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828800" y="3493008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28800" y="3730752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with push alerts when a scam email is detected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280160" y="4069080"/>
            <a:ext cx="7589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4A7FA5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325880" y="4069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828800" y="4105656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Extension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28800" y="434340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that scans emails as you open them in Gmail web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DAEE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AutoScamShield AI  |  Future Scope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C84E78-DDC0-0B05-6F3F-055AAE3CC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89E669-5FAE-C7DD-BFF6-8754A909D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50" y="1095168"/>
            <a:ext cx="4620990" cy="314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117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1031</Words>
  <Application>Microsoft Office PowerPoint</Application>
  <PresentationFormat>On-screen Show (16:9)</PresentationFormat>
  <Paragraphs>259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AutoScamShield AI</dc:title>
  <dc:subject>PptxGenJS Presentation</dc:subject>
  <dc:creator>PptxGenJS</dc:creator>
  <cp:lastModifiedBy>Geethikasri Sirirkonda</cp:lastModifiedBy>
  <cp:revision>2</cp:revision>
  <dcterms:created xsi:type="dcterms:W3CDTF">2026-04-10T02:32:16Z</dcterms:created>
  <dcterms:modified xsi:type="dcterms:W3CDTF">2026-04-10T03:04:14Z</dcterms:modified>
</cp:coreProperties>
</file>